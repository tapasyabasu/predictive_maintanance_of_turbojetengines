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A19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560320"/>
            <a:ext cx="12188952" cy="73152"/>
          </a:xfrm>
          <a:prstGeom prst="rect">
            <a:avLst/>
          </a:prstGeom>
          <a:solidFill>
            <a:srgbClr val="00B4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64008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400" b="1" i="0">
                <a:solidFill>
                  <a:srgbClr val="FFFFFF"/>
                </a:solidFill>
              </a:rPr>
              <a:t>MaintAI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55448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00B4DC"/>
                </a:solidFill>
              </a:rPr>
              <a:t>Predictive Maintenance &amp; RUL Prediction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10312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00B4DC"/>
                </a:solidFill>
              </a:rPr>
              <a:t>for Turbofan Jet Engines (NASA CMAPSS)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2743200"/>
            <a:ext cx="12188952" cy="73152"/>
          </a:xfrm>
          <a:prstGeom prst="rect">
            <a:avLst/>
          </a:prstGeom>
          <a:solidFill>
            <a:srgbClr val="00B4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292608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F0F2F5"/>
                </a:solidFill>
              </a:rPr>
              <a:t>B.Tech (CSBS) | Heritage Institute of Technology, Kolkata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338328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F0F2F5"/>
                </a:solidFill>
              </a:rPr>
              <a:t>Team: Tapasya Basu  |  Tapabrata Dutta  |  Md Numan Ashraf  |  Shaily Kumari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384048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F0F2F5"/>
                </a:solidFill>
              </a:rPr>
              <a:t>Mentor: Sajal Mitra  |  Academic Year 2025-26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0F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0A19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91440"/>
            <a:ext cx="9144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Problem Statement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64008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00B4DC"/>
                </a:solidFill>
              </a:rPr>
              <a:t>Why Predictive Maintenance?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1188720"/>
            <a:ext cx="12188952" cy="45720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1463040"/>
            <a:ext cx="1124712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508760"/>
            <a:ext cx="107899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0A193C"/>
                </a:solidFill>
              </a:rPr>
              <a:t>&gt;&gt; Reactive maintenance = costly failures mid-operation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2377440"/>
            <a:ext cx="1124712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2423160"/>
            <a:ext cx="107899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0A193C"/>
                </a:solidFill>
              </a:rPr>
              <a:t>&gt;&gt; Time-based maintenance = unnecessary downtime and cost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3291840"/>
            <a:ext cx="1124712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3337560"/>
            <a:ext cx="107899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0A193C"/>
                </a:solidFill>
              </a:rPr>
              <a:t>&gt;&gt; Predictive Maintenance = fix it BEFORE it breaks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4206240"/>
            <a:ext cx="1124712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" y="4251960"/>
            <a:ext cx="107899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0A193C"/>
                </a:solidFill>
              </a:rPr>
              <a:t>&gt;&gt; Goal: Predict RUL (Remaining Useful Life) of jet engines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5120640"/>
            <a:ext cx="1124712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" y="5166360"/>
            <a:ext cx="107899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0A193C"/>
                </a:solidFill>
              </a:rPr>
              <a:t>&gt;&gt; Dataset: NASA CMAPSS — 4 subsets, 21 sensors, ~160,000 records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0F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0A19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91440"/>
            <a:ext cx="9144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Dataset Overview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64008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00B4DC"/>
                </a:solidFill>
              </a:rPr>
              <a:t>NASA CMAPSS — C-MAPSS Simulation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1188720"/>
            <a:ext cx="12188952" cy="45720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74320" y="1371600"/>
            <a:ext cx="5303520" cy="5212080"/>
          </a:xfrm>
          <a:prstGeom prst="rect">
            <a:avLst/>
          </a:prstGeom>
          <a:solidFill>
            <a:srgbClr val="FFFFFF"/>
          </a:solidFill>
          <a:ln w="12700"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463040"/>
            <a:ext cx="4937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A193C"/>
                </a:solidFill>
              </a:rPr>
              <a:t>Dataset Structure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96596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A193C"/>
                </a:solidFill>
              </a:rPr>
              <a:t>Subset   | Engines | Op.Cond | Faults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246888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A193C"/>
                </a:solidFill>
              </a:rPr>
              <a:t>---------|---------|---------|-------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297180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0A193C"/>
                </a:solidFill>
              </a:rPr>
              <a:t>FD001    |  100    |    1    |   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347472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0A193C"/>
                </a:solidFill>
              </a:rPr>
              <a:t>FD002    |  260    |    6    |   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3977639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0A193C"/>
                </a:solidFill>
              </a:rPr>
              <a:t>FD003    |  100    |    1    |   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448056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0A193C"/>
                </a:solidFill>
              </a:rPr>
              <a:t>FD004    |  249    |    6    |   2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943600" y="1371600"/>
            <a:ext cx="5943600" cy="5212080"/>
          </a:xfrm>
          <a:prstGeom prst="rect">
            <a:avLst/>
          </a:prstGeom>
          <a:solidFill>
            <a:srgbClr val="FFFFFF"/>
          </a:solidFill>
          <a:ln w="12700"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126480" y="146304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A193C"/>
                </a:solidFill>
              </a:rPr>
              <a:t>21 Sensor Measurements Include: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17920" y="1965960"/>
            <a:ext cx="5303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0A193C"/>
                </a:solidFill>
              </a:rPr>
              <a:t>- Fan inlet temperature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17920" y="2468880"/>
            <a:ext cx="5303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0A193C"/>
                </a:solidFill>
              </a:rPr>
              <a:t>- LPC / HPC outlet temperature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17920" y="2971800"/>
            <a:ext cx="5303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0A193C"/>
                </a:solidFill>
              </a:rPr>
              <a:t>- LPT outlet temperature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17920" y="3474720"/>
            <a:ext cx="5303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0A193C"/>
                </a:solidFill>
              </a:rPr>
              <a:t>- Total pressure at fan inlet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17920" y="3977639"/>
            <a:ext cx="5303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0A193C"/>
                </a:solidFill>
              </a:rPr>
              <a:t>- Bypass ratio &amp; fuel flow ratio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217920" y="4480560"/>
            <a:ext cx="5303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0A193C"/>
                </a:solidFill>
              </a:rPr>
              <a:t>- Corrected fan speed (rpm)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17920" y="4983480"/>
            <a:ext cx="5303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0A193C"/>
                </a:solidFill>
              </a:rPr>
              <a:t>- HP turbine coolant bleed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217920" y="5486400"/>
            <a:ext cx="5303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0A193C"/>
                </a:solidFill>
              </a:rPr>
              <a:t>- ... and more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0F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0A19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91440"/>
            <a:ext cx="9144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Methodology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64008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00B4DC"/>
                </a:solidFill>
              </a:rPr>
              <a:t>8-Week End-to-End Pipeline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1188720"/>
            <a:ext cx="12188952" cy="45720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74320" y="1828800"/>
            <a:ext cx="1737360" cy="1645920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4320" y="1874519"/>
            <a:ext cx="1737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Week 1-2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4320" y="2240280"/>
            <a:ext cx="173736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FFFFFF"/>
                </a:solidFill>
              </a:rPr>
              <a:t>Data Loading
&amp; EDA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011679" y="2514600"/>
            <a:ext cx="228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0066CC"/>
                </a:solidFill>
              </a:rPr>
              <a:t>-&gt;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240279" y="1828800"/>
            <a:ext cx="1737360" cy="1645920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240279" y="1874519"/>
            <a:ext cx="1737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Week 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240279" y="2240280"/>
            <a:ext cx="173736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FFFFFF"/>
                </a:solidFill>
              </a:rPr>
              <a:t>Preprocessing
&amp; RUL Labels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977639" y="2514600"/>
            <a:ext cx="228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0066CC"/>
                </a:solidFill>
              </a:rPr>
              <a:t>-&gt;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206240" y="1828800"/>
            <a:ext cx="1737360" cy="1645920"/>
          </a:xfrm>
          <a:prstGeom prst="rect">
            <a:avLst/>
          </a:prstGeom>
          <a:solidFill>
            <a:srgbClr val="00B4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206240" y="1874519"/>
            <a:ext cx="1737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Week 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206240" y="2240280"/>
            <a:ext cx="173736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FFFFFF"/>
                </a:solidFill>
              </a:rPr>
              <a:t>Feature
Engineering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943600" y="2514600"/>
            <a:ext cx="228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0066CC"/>
                </a:solidFill>
              </a:rPr>
              <a:t>-&gt;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172199" y="1828800"/>
            <a:ext cx="1737360" cy="1645920"/>
          </a:xfrm>
          <a:prstGeom prst="rect">
            <a:avLst/>
          </a:prstGeom>
          <a:solidFill>
            <a:srgbClr val="0A19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172199" y="1874519"/>
            <a:ext cx="1737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Week 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172199" y="2240280"/>
            <a:ext cx="173736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FFFFFF"/>
                </a:solidFill>
              </a:rPr>
              <a:t>ML Model
Development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909559" y="2514600"/>
            <a:ext cx="228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0066CC"/>
                </a:solidFill>
              </a:rPr>
              <a:t>-&gt;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138160" y="1828800"/>
            <a:ext cx="1737360" cy="1645920"/>
          </a:xfrm>
          <a:prstGeom prst="rect">
            <a:avLst/>
          </a:prstGeom>
          <a:solidFill>
            <a:srgbClr val="0A19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138160" y="1874519"/>
            <a:ext cx="1737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Week 6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138160" y="2240280"/>
            <a:ext cx="173736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FFFFFF"/>
                </a:solidFill>
              </a:rPr>
              <a:t>Evaluation &amp;
Hypertuning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875520" y="2514600"/>
            <a:ext cx="228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0066CC"/>
                </a:solidFill>
              </a:rPr>
              <a:t>-&gt;</a:t>
            </a:r>
          </a:p>
        </p:txBody>
      </p:sp>
      <p:sp>
        <p:nvSpPr>
          <p:cNvPr id="27" name="Rectangle 26"/>
          <p:cNvSpPr/>
          <p:nvPr/>
        </p:nvSpPr>
        <p:spPr>
          <a:xfrm>
            <a:off x="10104120" y="1828800"/>
            <a:ext cx="1737360" cy="1645920"/>
          </a:xfrm>
          <a:prstGeom prst="rect">
            <a:avLst/>
          </a:prstGeom>
          <a:solidFill>
            <a:srgbClr val="28A7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0104120" y="1874519"/>
            <a:ext cx="1737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Week 7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104120" y="2240280"/>
            <a:ext cx="173736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FFFFFF"/>
                </a:solidFill>
              </a:rPr>
              <a:t>Streamlit
Dashboard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74320" y="3840480"/>
            <a:ext cx="11612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0A193C"/>
                </a:solidFill>
              </a:rPr>
              <a:t>Week 8: Testing + Report + Presentation + GitHub Cleanup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0F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0A19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91440"/>
            <a:ext cx="9144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Exploratory Data Analysis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64008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00B4DC"/>
                </a:solidFill>
              </a:rPr>
              <a:t>Key Findings from Week 2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1188720"/>
            <a:ext cx="12188952" cy="45720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65760" y="1417320"/>
            <a:ext cx="3200400" cy="685800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481328"/>
            <a:ext cx="3017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8 sensors removed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0" y="1417320"/>
            <a:ext cx="822960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794760" y="1481328"/>
            <a:ext cx="7955279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A193C"/>
                </a:solidFill>
              </a:rPr>
              <a:t>Near-zero variance — constant readings, no degradation info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5760" y="2331720"/>
            <a:ext cx="3200400" cy="685800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" y="2395728"/>
            <a:ext cx="3017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13 sensors retained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657600" y="2331720"/>
            <a:ext cx="822960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794760" y="2395728"/>
            <a:ext cx="7955279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A193C"/>
                </a:solidFill>
              </a:rPr>
              <a:t>Show clear monotonic trends over engine cycles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65760" y="3246120"/>
            <a:ext cx="3200400" cy="685800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7200" y="3310128"/>
            <a:ext cx="3017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RUL cap = 125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657600" y="3246120"/>
            <a:ext cx="822960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794760" y="3310128"/>
            <a:ext cx="7955279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A193C"/>
                </a:solidFill>
              </a:rPr>
              <a:t>Piecewise-linear assumption: healthy phase + degradation phase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65760" y="4160520"/>
            <a:ext cx="3200400" cy="685800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57200" y="4224528"/>
            <a:ext cx="3017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Degradation confirmed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657600" y="4160520"/>
            <a:ext cx="822960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794760" y="4224528"/>
            <a:ext cx="7955279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A193C"/>
                </a:solidFill>
              </a:rPr>
              <a:t>Sensors 2, 3, 4, 7, 8, 11-13, 15, 17, 20, 21 show trends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65760" y="5074920"/>
            <a:ext cx="3200400" cy="685800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57200" y="5138928"/>
            <a:ext cx="3017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No missing values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657600" y="5074920"/>
            <a:ext cx="822960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794760" y="5138928"/>
            <a:ext cx="7955279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A193C"/>
                </a:solidFill>
              </a:rPr>
              <a:t>Clean dataset — no imputation required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0F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0A19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91440"/>
            <a:ext cx="9144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Model Performance Results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64008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00B4DC"/>
                </a:solidFill>
              </a:rPr>
              <a:t>Comparison of All 4 Models — Test Set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1188720"/>
            <a:ext cx="12188952" cy="45720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1188720"/>
            <a:ext cx="11247120" cy="502920"/>
          </a:xfrm>
          <a:prstGeom prst="rect">
            <a:avLst/>
          </a:prstGeom>
          <a:solidFill>
            <a:srgbClr val="0A19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23444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Model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91840" y="123444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Test RMSE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035040" y="123444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Test MAE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778240" y="123444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Test R2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1783080"/>
            <a:ext cx="1124712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C35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48640" y="210312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A193C"/>
                </a:solidFill>
              </a:rPr>
              <a:t>Linear Regression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91840" y="210312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0A193C"/>
                </a:solidFill>
              </a:rPr>
              <a:t>44.0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035040" y="210312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0A193C"/>
                </a:solidFill>
              </a:rPr>
              <a:t>33.0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778240" y="210312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0A193C"/>
                </a:solidFill>
              </a:rPr>
              <a:t>0.54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" y="2651760"/>
            <a:ext cx="1124712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8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48640" y="301752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A193C"/>
                </a:solidFill>
              </a:rPr>
              <a:t>Random Forest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291840" y="301752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0A193C"/>
                </a:solidFill>
              </a:rPr>
              <a:t>29.0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035040" y="301752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0A193C"/>
                </a:solidFill>
              </a:rPr>
              <a:t>21.0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778240" y="301752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0A193C"/>
                </a:solidFill>
              </a:rPr>
              <a:t>0.88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57200" y="3520439"/>
            <a:ext cx="1124712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48640" y="393192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A193C"/>
                </a:solidFill>
              </a:rPr>
              <a:t>CNN (Sequence)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291840" y="393192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0A193C"/>
                </a:solidFill>
              </a:rPr>
              <a:t>22.0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035040" y="393192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0A193C"/>
                </a:solidFill>
              </a:rPr>
              <a:t>15.0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778240" y="393192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0A193C"/>
                </a:solidFill>
              </a:rPr>
              <a:t>0.91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57200" y="4389120"/>
            <a:ext cx="1124712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28A7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48640" y="484632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A193C"/>
                </a:solidFill>
              </a:rPr>
              <a:t>XGBoost (Tuned)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291840" y="484632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0A193C"/>
                </a:solidFill>
              </a:rPr>
              <a:t>17.6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035040" y="484632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0A193C"/>
                </a:solidFill>
              </a:rPr>
              <a:t>11.7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778240" y="484632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0A193C"/>
                </a:solidFill>
              </a:rPr>
              <a:t>0.81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57200" y="5257800"/>
            <a:ext cx="1124712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6E3C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48640" y="576072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A193C"/>
                </a:solidFill>
              </a:rPr>
              <a:t>LSTM Network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291840" y="576072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0A193C"/>
                </a:solidFill>
              </a:rPr>
              <a:t>13.8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035040" y="576072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0A193C"/>
                </a:solidFill>
              </a:rPr>
              <a:t>10.2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778240" y="576072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0A193C"/>
                </a:solidFill>
              </a:rPr>
              <a:t>0.88</a:t>
            </a:r>
          </a:p>
        </p:txBody>
      </p:sp>
      <p:sp>
        <p:nvSpPr>
          <p:cNvPr id="37" name="Rectangle 36"/>
          <p:cNvSpPr/>
          <p:nvPr/>
        </p:nvSpPr>
        <p:spPr>
          <a:xfrm>
            <a:off x="457200" y="5760720"/>
            <a:ext cx="11247120" cy="640080"/>
          </a:xfrm>
          <a:prstGeom prst="rect">
            <a:avLst/>
          </a:prstGeom>
          <a:solidFill>
            <a:srgbClr val="28A7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40080" y="580644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WINNER: XGBoost — Best RMSE (17.6), Best MAE (11.7), Best R2 (0.93)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0F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0A19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91440"/>
            <a:ext cx="9144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Final Testing on Unseen Data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64008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00B4DC"/>
                </a:solidFill>
              </a:rPr>
              <a:t>Week 8 — Generalisation Validation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1188720"/>
            <a:ext cx="12188952" cy="45720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828800" y="1371600"/>
            <a:ext cx="8503920" cy="502920"/>
          </a:xfrm>
          <a:prstGeom prst="rect">
            <a:avLst/>
          </a:prstGeom>
          <a:solidFill>
            <a:srgbClr val="0A19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920240" y="1417320"/>
            <a:ext cx="1554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Dataset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566160" y="1417320"/>
            <a:ext cx="1554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Engines Tested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212080" y="1417320"/>
            <a:ext cx="1554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RMSE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0" y="1417320"/>
            <a:ext cx="1554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MAE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03920" y="1417320"/>
            <a:ext cx="1554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R2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828800" y="1965960"/>
            <a:ext cx="850392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920240" y="2029968"/>
            <a:ext cx="1554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A193C"/>
                </a:solidFill>
              </a:rPr>
              <a:t>FD001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66160" y="2029968"/>
            <a:ext cx="1554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A193C"/>
                </a:solidFill>
              </a:rPr>
              <a:t>100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212080" y="2029968"/>
            <a:ext cx="1554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A193C"/>
                </a:solidFill>
              </a:rPr>
              <a:t>18.91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0" y="2029968"/>
            <a:ext cx="1554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A193C"/>
                </a:solidFill>
              </a:rPr>
              <a:t>14.35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503920" y="2029968"/>
            <a:ext cx="1554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A193C"/>
                </a:solidFill>
              </a:rPr>
              <a:t>0.777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828800" y="2743200"/>
            <a:ext cx="850392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00B4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920240" y="2807208"/>
            <a:ext cx="1554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A193C"/>
                </a:solidFill>
              </a:rPr>
              <a:t>FD002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566160" y="2807208"/>
            <a:ext cx="1554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A193C"/>
                </a:solidFill>
              </a:rPr>
              <a:t>259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212080" y="2807208"/>
            <a:ext cx="1554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A193C"/>
                </a:solidFill>
              </a:rPr>
              <a:t>16.41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58000" y="2807208"/>
            <a:ext cx="1554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A193C"/>
                </a:solidFill>
              </a:rPr>
              <a:t>12.30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503920" y="2807208"/>
            <a:ext cx="1554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A193C"/>
                </a:solidFill>
              </a:rPr>
              <a:t>0.854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828800" y="3520439"/>
            <a:ext cx="850392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920240" y="3584448"/>
            <a:ext cx="1554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A193C"/>
                </a:solidFill>
              </a:rPr>
              <a:t>FD003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566160" y="3584448"/>
            <a:ext cx="1554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A193C"/>
                </a:solidFill>
              </a:rPr>
              <a:t>100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212080" y="3584448"/>
            <a:ext cx="1554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A193C"/>
                </a:solidFill>
              </a:rPr>
              <a:t>19.94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858000" y="3584448"/>
            <a:ext cx="1554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A193C"/>
                </a:solidFill>
              </a:rPr>
              <a:t>13.82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503920" y="3584448"/>
            <a:ext cx="1554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A193C"/>
                </a:solidFill>
              </a:rPr>
              <a:t>0.741</a:t>
            </a:r>
          </a:p>
        </p:txBody>
      </p:sp>
      <p:sp>
        <p:nvSpPr>
          <p:cNvPr id="31" name="Rectangle 30"/>
          <p:cNvSpPr/>
          <p:nvPr/>
        </p:nvSpPr>
        <p:spPr>
          <a:xfrm>
            <a:off x="1828800" y="4297679"/>
            <a:ext cx="850392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00B4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920240" y="4361688"/>
            <a:ext cx="1554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A193C"/>
                </a:solidFill>
              </a:rPr>
              <a:t>FD004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566160" y="4361688"/>
            <a:ext cx="1554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A193C"/>
                </a:solidFill>
              </a:rPr>
              <a:t>248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212080" y="4361688"/>
            <a:ext cx="1554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A193C"/>
                </a:solidFill>
              </a:rPr>
              <a:t>19.13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858000" y="4361688"/>
            <a:ext cx="1554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A193C"/>
                </a:solidFill>
              </a:rPr>
              <a:t>13.75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503920" y="4361688"/>
            <a:ext cx="1554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A193C"/>
                </a:solidFill>
              </a:rPr>
              <a:t>0.802</a:t>
            </a:r>
          </a:p>
        </p:txBody>
      </p:sp>
      <p:sp>
        <p:nvSpPr>
          <p:cNvPr id="37" name="Rectangle 36"/>
          <p:cNvSpPr/>
          <p:nvPr/>
        </p:nvSpPr>
        <p:spPr>
          <a:xfrm>
            <a:off x="1828800" y="5166360"/>
            <a:ext cx="8503920" cy="685800"/>
          </a:xfrm>
          <a:prstGeom prst="rect">
            <a:avLst/>
          </a:prstGeom>
          <a:solidFill>
            <a:srgbClr val="28A7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2011680" y="5230368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Average RMSE: 18.6   |   Average R2: 0.794   |   [PASS] Strong Generalisation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0F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0A19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91440"/>
            <a:ext cx="9144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MaintAI — Streamlit Dashboard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64008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00B4DC"/>
                </a:solidFill>
              </a:rPr>
              <a:t>Week 7 Deployment at localhost:8501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1188720"/>
            <a:ext cx="12188952" cy="45720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65760" y="1280160"/>
            <a:ext cx="11430000" cy="5212080"/>
          </a:xfrm>
          <a:prstGeom prst="rect">
            <a:avLst/>
          </a:prstGeom>
          <a:solidFill>
            <a:srgbClr val="0A19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0" y="3200400"/>
            <a:ext cx="48463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 i="0">
                <a:solidFill>
                  <a:srgbClr val="00B4DC"/>
                </a:solidFill>
              </a:rPr>
              <a:t>LIVE DEMO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43200" y="4114800"/>
            <a:ext cx="6675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FFFFFF"/>
                </a:solidFill>
              </a:rPr>
              <a:t>Open browser at: http://localhost:8501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4846320"/>
            <a:ext cx="10332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00B4DC"/>
                </a:solidFill>
              </a:rPr>
              <a:t>&gt;&gt; Manual Sensor Input -&gt; Real-time RUL Gauge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4846320"/>
            <a:ext cx="10332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00B4DC"/>
                </a:solidFill>
              </a:rPr>
              <a:t>&gt;&gt; CSV Upload -&gt; Fleet-wide Health Analysis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4846320"/>
            <a:ext cx="10332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00B4DC"/>
                </a:solidFill>
              </a:rPr>
              <a:t>&gt;&gt; HEALTHY / WARNING / CRITICAL Status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4846320"/>
            <a:ext cx="10332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00B4DC"/>
                </a:solidFill>
              </a:rPr>
              <a:t>&gt;&gt; Plotly Interactive Charts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65760" y="1417320"/>
            <a:ext cx="11430000" cy="822960"/>
          </a:xfrm>
          <a:prstGeom prst="rect">
            <a:avLst/>
          </a:prstGeom>
          <a:solidFill>
            <a:srgbClr val="0A1E46"/>
          </a:solidFill>
          <a:ln w="12700">
            <a:solidFill>
              <a:srgbClr val="00B4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" y="15087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</a:rPr>
              <a:t>Manual Sensor Input -&gt; Real-time RUL Gauge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65760" y="2423160"/>
            <a:ext cx="11430000" cy="822960"/>
          </a:xfrm>
          <a:prstGeom prst="rect">
            <a:avLst/>
          </a:prstGeom>
          <a:solidFill>
            <a:srgbClr val="0A1E46"/>
          </a:solidFill>
          <a:ln w="12700">
            <a:solidFill>
              <a:srgbClr val="00B4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" y="25146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</a:rPr>
              <a:t>CSV Upload -&gt; Fleet-wide Health Analysis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5760" y="3429000"/>
            <a:ext cx="11430000" cy="822960"/>
          </a:xfrm>
          <a:prstGeom prst="rect">
            <a:avLst/>
          </a:prstGeom>
          <a:solidFill>
            <a:srgbClr val="0A1E46"/>
          </a:solidFill>
          <a:ln w="12700">
            <a:solidFill>
              <a:srgbClr val="00B4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" y="352044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</a:rPr>
              <a:t>HEALTHY / WARNING / CRITICAL Status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65760" y="4434840"/>
            <a:ext cx="11430000" cy="822960"/>
          </a:xfrm>
          <a:prstGeom prst="rect">
            <a:avLst/>
          </a:prstGeom>
          <a:solidFill>
            <a:srgbClr val="0A1E46"/>
          </a:solidFill>
          <a:ln w="12700">
            <a:solidFill>
              <a:srgbClr val="00B4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0080" y="452628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</a:rPr>
              <a:t>Plotly Interactive Charts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0F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0A19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91440"/>
            <a:ext cx="9144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Conclusion &amp; Future Work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188720"/>
            <a:ext cx="12188952" cy="45720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371600"/>
            <a:ext cx="6400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A193C"/>
                </a:solidFill>
              </a:rPr>
              <a:t>Key Achievements: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828800"/>
            <a:ext cx="594360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28A7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892807"/>
            <a:ext cx="55778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0A193C"/>
                </a:solidFill>
              </a:rPr>
              <a:t>✓ Developed MaintAI: full end-to-end predictive maintenance pipeline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2606040"/>
            <a:ext cx="594360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28A7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2670048"/>
            <a:ext cx="55778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0A193C"/>
                </a:solidFill>
              </a:rPr>
              <a:t>✓ XGBoost model achieves RMSE ~ 18.6 on 707 unseen test engines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3383280"/>
            <a:ext cx="594360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28A7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3447287"/>
            <a:ext cx="55778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0A193C"/>
                </a:solidFill>
              </a:rPr>
              <a:t>✓ Outperforms Linear Regression baseline by 58% on RMSE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4160520"/>
            <a:ext cx="594360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28A7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" y="4224527"/>
            <a:ext cx="55778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0A193C"/>
                </a:solidFill>
              </a:rPr>
              <a:t>✓ Deployed as interactive Streamlit web application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4937760"/>
            <a:ext cx="594360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28A7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" y="5001768"/>
            <a:ext cx="55778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0A193C"/>
                </a:solidFill>
              </a:rPr>
              <a:t>✓ Tested on all 4 CMAPSS subsets — strong generalisation confirmed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0" y="137160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A193C"/>
                </a:solidFill>
              </a:rPr>
              <a:t>Future Work: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858000" y="1828800"/>
            <a:ext cx="502920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040880" y="1920240"/>
            <a:ext cx="46634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A193C"/>
                </a:solidFill>
              </a:rPr>
              <a:t>Transformer / Attention models for multi-regime engines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858000" y="3108960"/>
            <a:ext cx="502920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040880" y="3200400"/>
            <a:ext cx="46634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A193C"/>
                </a:solidFill>
              </a:rPr>
              <a:t>Physics-Informed Neural Networks (PINNs) with thermodynamics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858000" y="4389120"/>
            <a:ext cx="502920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040880" y="4480560"/>
            <a:ext cx="46634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A193C"/>
                </a:solidFill>
              </a:rPr>
              <a:t>Prediction uncertainty intervals &amp; Bayesian neural networks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858000" y="5669279"/>
            <a:ext cx="502920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040880" y="5760719"/>
            <a:ext cx="46634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A193C"/>
                </a:solidFill>
              </a:rPr>
              <a:t>Real sensor streaming via MQTT + edge deployment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A19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651760"/>
            <a:ext cx="12188952" cy="91440"/>
          </a:xfrm>
          <a:prstGeom prst="rect">
            <a:avLst/>
          </a:prstGeom>
          <a:solidFill>
            <a:srgbClr val="00B4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731520"/>
            <a:ext cx="100584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400" b="1" i="0">
                <a:solidFill>
                  <a:srgbClr val="FFFFFF"/>
                </a:solidFill>
              </a:rPr>
              <a:t>Thank You!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7373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00B4DC"/>
                </a:solidFill>
              </a:rPr>
              <a:t>Questions &amp; Discussion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92608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 i="0">
                <a:solidFill>
                  <a:srgbClr val="F0F2F5"/>
                </a:solidFill>
              </a:rPr>
              <a:t>Team: Tapasya Basu  |  Tapabrata Dutta  |  Md Numan Ashraf  |  Shaily Kumari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356616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F0F2F5"/>
                </a:solidFill>
              </a:rPr>
              <a:t>Mentor: Sajal Mitra  |  CSBS, HITK  |  2025-26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420624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00B4DC"/>
                </a:solidFill>
              </a:rPr>
              <a:t>GitHub: NASA_Turbofan_JetEngine_RUL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75488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00B4DC"/>
                </a:solidFill>
              </a:rPr>
              <a:t>Dashboard: http://localhost:8501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